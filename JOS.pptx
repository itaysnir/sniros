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diagrams/data1.xml" ContentType="application/vnd.openxmlformats-officedocument.drawingml.diagramData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diagrams/drawing1.xml" ContentType="application/vnd.ms-office.drawingml.diagramDrawing+xml"/>
  <Override PartName="/ppt/theme/theme1.xml" ContentType="application/vnd.openxmlformats-officedocument.theme+xml"/>
  <Override PartName="/ppt/theme/theme2.xml" ContentType="application/vnd.openxmlformats-officedocument.theme+xml"/>
  <Override PartName="/ppt/media/image1.jpeg" ContentType="image/jpeg"/>
  <Override PartName="/ppt/media/image8.png" ContentType="image/png"/>
  <Override PartName="/ppt/media/image2.jpeg" ContentType="image/jpeg"/>
  <Override PartName="/ppt/media/image5.png" ContentType="image/png"/>
  <Override PartName="/ppt/media/image3.jpeg" ContentType="image/jpeg"/>
  <Override PartName="/ppt/media/image4.png" ContentType="image/png"/>
  <Override PartName="/ppt/media/image6.png" ContentType="image/png"/>
  <Override PartName="/ppt/media/image7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F9A653-FE6C-493D-8CAD-540BCBE55CB7}" type="doc">
      <dgm:prSet loTypeId="urn:microsoft.com/office/officeart/2016/7/layout/LinearBlockProcessNumbered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A6D6ABB-19A7-46CF-9DDE-6FBBB9B9467A}">
      <dgm:prSet/>
      <dgm:spPr/>
      <dgm:t>
        <a:bodyPr/>
        <a:lstStyle/>
        <a:p>
          <a:r>
            <a:rPr lang="en-US"/>
            <a:t>Setting up appropriate trap handler</a:t>
          </a:r>
        </a:p>
      </dgm:t>
    </dgm:pt>
    <dgm:pt modelId="{390DBC2E-4C73-4B9D-A689-0E3181DFB442}" type="parTrans" cxnId="{25B3C1A2-5727-44E7-AFA7-5F36CF913C2A}">
      <dgm:prSet/>
      <dgm:spPr/>
      <dgm:t>
        <a:bodyPr/>
        <a:lstStyle/>
        <a:p>
          <a:endParaRPr lang="en-US"/>
        </a:p>
      </dgm:t>
    </dgm:pt>
    <dgm:pt modelId="{E17B2F2C-9D84-478B-8E51-14EB6490969D}" type="sibTrans" cxnId="{25B3C1A2-5727-44E7-AFA7-5F36CF913C2A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CD87D700-5FBC-40A6-AC4F-4FDE32C5D9D2}">
      <dgm:prSet/>
      <dgm:spPr/>
      <dgm:t>
        <a:bodyPr/>
        <a:lstStyle/>
        <a:p>
          <a:r>
            <a:rPr lang="en-US"/>
            <a:t>Setting PIC enable interrupt mask</a:t>
          </a:r>
        </a:p>
      </dgm:t>
    </dgm:pt>
    <dgm:pt modelId="{D1D034D9-5B51-4A23-894B-1E1BBC42D875}" type="parTrans" cxnId="{DC962646-CE5E-43C9-81B3-D0C91C4ABEEA}">
      <dgm:prSet/>
      <dgm:spPr/>
      <dgm:t>
        <a:bodyPr/>
        <a:lstStyle/>
        <a:p>
          <a:endParaRPr lang="en-US"/>
        </a:p>
      </dgm:t>
    </dgm:pt>
    <dgm:pt modelId="{94CF6A00-C40B-40E0-8925-0919273CF4A4}" type="sibTrans" cxnId="{DC962646-CE5E-43C9-81B3-D0C91C4ABEEA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AEEDE9BA-B159-48D8-9C8E-6DA3A7B609B5}">
      <dgm:prSet/>
      <dgm:spPr/>
      <dgm:t>
        <a:bodyPr/>
        <a:lstStyle/>
        <a:p>
          <a:r>
            <a:rPr lang="en-US"/>
            <a:t>Setting the E1000 NIC interrupt mask register (IMS) </a:t>
          </a:r>
        </a:p>
      </dgm:t>
    </dgm:pt>
    <dgm:pt modelId="{92670C4D-9F29-426D-A8D4-C51508756D56}" type="parTrans" cxnId="{657649E9-3F52-4091-9A9D-7871113C164F}">
      <dgm:prSet/>
      <dgm:spPr/>
      <dgm:t>
        <a:bodyPr/>
        <a:lstStyle/>
        <a:p>
          <a:endParaRPr lang="en-US"/>
        </a:p>
      </dgm:t>
    </dgm:pt>
    <dgm:pt modelId="{08AF65B4-8432-4E34-AA8E-BF377F7C7C53}" type="sibTrans" cxnId="{657649E9-3F52-4091-9A9D-7871113C164F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E71FB564-84F4-41A5-9CA6-8929C001464C}" type="pres">
      <dgm:prSet presAssocID="{24F9A653-FE6C-493D-8CAD-540BCBE55CB7}" presName="Name0" presStyleCnt="0">
        <dgm:presLayoutVars>
          <dgm:animLvl val="lvl"/>
          <dgm:resizeHandles val="exact"/>
        </dgm:presLayoutVars>
      </dgm:prSet>
      <dgm:spPr/>
    </dgm:pt>
    <dgm:pt modelId="{8725577B-2797-441A-B054-3E6C5830C98B}" type="pres">
      <dgm:prSet presAssocID="{8A6D6ABB-19A7-46CF-9DDE-6FBBB9B9467A}" presName="compositeNode" presStyleCnt="0">
        <dgm:presLayoutVars>
          <dgm:bulletEnabled val="1"/>
        </dgm:presLayoutVars>
      </dgm:prSet>
      <dgm:spPr/>
    </dgm:pt>
    <dgm:pt modelId="{33B77685-F9DC-43E1-A490-6D1102149D25}" type="pres">
      <dgm:prSet presAssocID="{8A6D6ABB-19A7-46CF-9DDE-6FBBB9B9467A}" presName="bgRect" presStyleLbl="alignNode1" presStyleIdx="0" presStyleCnt="3"/>
      <dgm:spPr/>
    </dgm:pt>
    <dgm:pt modelId="{B2A3FD45-C3A9-431C-B279-4E1F9DFB2923}" type="pres">
      <dgm:prSet presAssocID="{E17B2F2C-9D84-478B-8E51-14EB6490969D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9914A617-BB83-4ED7-AE98-1F1E40DDEB29}" type="pres">
      <dgm:prSet presAssocID="{8A6D6ABB-19A7-46CF-9DDE-6FBBB9B9467A}" presName="nodeRect" presStyleLbl="alignNode1" presStyleIdx="0" presStyleCnt="3">
        <dgm:presLayoutVars>
          <dgm:bulletEnabled val="1"/>
        </dgm:presLayoutVars>
      </dgm:prSet>
      <dgm:spPr/>
    </dgm:pt>
    <dgm:pt modelId="{E5666CFD-7DB1-4A2A-B5C3-54DC67451FA6}" type="pres">
      <dgm:prSet presAssocID="{E17B2F2C-9D84-478B-8E51-14EB6490969D}" presName="sibTrans" presStyleCnt="0"/>
      <dgm:spPr/>
    </dgm:pt>
    <dgm:pt modelId="{8ED6A440-30CF-4EAA-A2AF-73DB3065DC18}" type="pres">
      <dgm:prSet presAssocID="{CD87D700-5FBC-40A6-AC4F-4FDE32C5D9D2}" presName="compositeNode" presStyleCnt="0">
        <dgm:presLayoutVars>
          <dgm:bulletEnabled val="1"/>
        </dgm:presLayoutVars>
      </dgm:prSet>
      <dgm:spPr/>
    </dgm:pt>
    <dgm:pt modelId="{B0CC1A07-FDBF-4FB4-8D97-50895794A4CB}" type="pres">
      <dgm:prSet presAssocID="{CD87D700-5FBC-40A6-AC4F-4FDE32C5D9D2}" presName="bgRect" presStyleLbl="alignNode1" presStyleIdx="1" presStyleCnt="3"/>
      <dgm:spPr/>
    </dgm:pt>
    <dgm:pt modelId="{27972910-62A6-4A23-B705-9D9E651F447D}" type="pres">
      <dgm:prSet presAssocID="{94CF6A00-C40B-40E0-8925-0919273CF4A4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3B7FFAB6-D6D6-4615-AEF8-B9563CF87123}" type="pres">
      <dgm:prSet presAssocID="{CD87D700-5FBC-40A6-AC4F-4FDE32C5D9D2}" presName="nodeRect" presStyleLbl="alignNode1" presStyleIdx="1" presStyleCnt="3">
        <dgm:presLayoutVars>
          <dgm:bulletEnabled val="1"/>
        </dgm:presLayoutVars>
      </dgm:prSet>
      <dgm:spPr/>
    </dgm:pt>
    <dgm:pt modelId="{C3088845-6E57-4A76-A386-365A39EAF732}" type="pres">
      <dgm:prSet presAssocID="{94CF6A00-C40B-40E0-8925-0919273CF4A4}" presName="sibTrans" presStyleCnt="0"/>
      <dgm:spPr/>
    </dgm:pt>
    <dgm:pt modelId="{5F03516A-C6C9-4E41-8A51-976F0C8C3A65}" type="pres">
      <dgm:prSet presAssocID="{AEEDE9BA-B159-48D8-9C8E-6DA3A7B609B5}" presName="compositeNode" presStyleCnt="0">
        <dgm:presLayoutVars>
          <dgm:bulletEnabled val="1"/>
        </dgm:presLayoutVars>
      </dgm:prSet>
      <dgm:spPr/>
    </dgm:pt>
    <dgm:pt modelId="{1C77F2EF-F856-4FEA-8843-FDF420E071BA}" type="pres">
      <dgm:prSet presAssocID="{AEEDE9BA-B159-48D8-9C8E-6DA3A7B609B5}" presName="bgRect" presStyleLbl="alignNode1" presStyleIdx="2" presStyleCnt="3"/>
      <dgm:spPr/>
    </dgm:pt>
    <dgm:pt modelId="{B114A6D6-D04B-45BC-82B4-15E10796F0D5}" type="pres">
      <dgm:prSet presAssocID="{08AF65B4-8432-4E34-AA8E-BF377F7C7C53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2740EED7-56A8-4812-B362-EA8153707F01}" type="pres">
      <dgm:prSet presAssocID="{AEEDE9BA-B159-48D8-9C8E-6DA3A7B609B5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E90F406-AED1-4831-87EE-A1A30A2194C5}" type="presOf" srcId="{CD87D700-5FBC-40A6-AC4F-4FDE32C5D9D2}" destId="{3B7FFAB6-D6D6-4615-AEF8-B9563CF87123}" srcOrd="1" destOrd="0" presId="urn:microsoft.com/office/officeart/2016/7/layout/LinearBlockProcessNumbered"/>
    <dgm:cxn modelId="{DC962646-CE5E-43C9-81B3-D0C91C4ABEEA}" srcId="{24F9A653-FE6C-493D-8CAD-540BCBE55CB7}" destId="{CD87D700-5FBC-40A6-AC4F-4FDE32C5D9D2}" srcOrd="1" destOrd="0" parTransId="{D1D034D9-5B51-4A23-894B-1E1BBC42D875}" sibTransId="{94CF6A00-C40B-40E0-8925-0919273CF4A4}"/>
    <dgm:cxn modelId="{400C2873-305B-4649-9184-0547C4EBCB53}" type="presOf" srcId="{E17B2F2C-9D84-478B-8E51-14EB6490969D}" destId="{B2A3FD45-C3A9-431C-B279-4E1F9DFB2923}" srcOrd="0" destOrd="0" presId="urn:microsoft.com/office/officeart/2016/7/layout/LinearBlockProcessNumbered"/>
    <dgm:cxn modelId="{A0B31A7E-406F-4FDA-B650-D49C956D3B68}" type="presOf" srcId="{24F9A653-FE6C-493D-8CAD-540BCBE55CB7}" destId="{E71FB564-84F4-41A5-9CA6-8929C001464C}" srcOrd="0" destOrd="0" presId="urn:microsoft.com/office/officeart/2016/7/layout/LinearBlockProcessNumbered"/>
    <dgm:cxn modelId="{D0E47783-2BDB-40A7-87E0-79896E43D31C}" type="presOf" srcId="{8A6D6ABB-19A7-46CF-9DDE-6FBBB9B9467A}" destId="{33B77685-F9DC-43E1-A490-6D1102149D25}" srcOrd="0" destOrd="0" presId="urn:microsoft.com/office/officeart/2016/7/layout/LinearBlockProcessNumbered"/>
    <dgm:cxn modelId="{17982C9C-EF66-4A65-8F72-08218ECDB613}" type="presOf" srcId="{08AF65B4-8432-4E34-AA8E-BF377F7C7C53}" destId="{B114A6D6-D04B-45BC-82B4-15E10796F0D5}" srcOrd="0" destOrd="0" presId="urn:microsoft.com/office/officeart/2016/7/layout/LinearBlockProcessNumbered"/>
    <dgm:cxn modelId="{25B3C1A2-5727-44E7-AFA7-5F36CF913C2A}" srcId="{24F9A653-FE6C-493D-8CAD-540BCBE55CB7}" destId="{8A6D6ABB-19A7-46CF-9DDE-6FBBB9B9467A}" srcOrd="0" destOrd="0" parTransId="{390DBC2E-4C73-4B9D-A689-0E3181DFB442}" sibTransId="{E17B2F2C-9D84-478B-8E51-14EB6490969D}"/>
    <dgm:cxn modelId="{73B053BB-1184-4964-B946-89237F870558}" type="presOf" srcId="{AEEDE9BA-B159-48D8-9C8E-6DA3A7B609B5}" destId="{2740EED7-56A8-4812-B362-EA8153707F01}" srcOrd="1" destOrd="0" presId="urn:microsoft.com/office/officeart/2016/7/layout/LinearBlockProcessNumbered"/>
    <dgm:cxn modelId="{D6A72FC1-03C9-467A-83DD-10CBC88B477F}" type="presOf" srcId="{CD87D700-5FBC-40A6-AC4F-4FDE32C5D9D2}" destId="{B0CC1A07-FDBF-4FB4-8D97-50895794A4CB}" srcOrd="0" destOrd="0" presId="urn:microsoft.com/office/officeart/2016/7/layout/LinearBlockProcessNumbered"/>
    <dgm:cxn modelId="{BA3E19C7-2BD1-4756-B6B8-8791098F4ADA}" type="presOf" srcId="{AEEDE9BA-B159-48D8-9C8E-6DA3A7B609B5}" destId="{1C77F2EF-F856-4FEA-8843-FDF420E071BA}" srcOrd="0" destOrd="0" presId="urn:microsoft.com/office/officeart/2016/7/layout/LinearBlockProcessNumbered"/>
    <dgm:cxn modelId="{F84378E8-9263-45A5-8E3C-074111C851C5}" type="presOf" srcId="{94CF6A00-C40B-40E0-8925-0919273CF4A4}" destId="{27972910-62A6-4A23-B705-9D9E651F447D}" srcOrd="0" destOrd="0" presId="urn:microsoft.com/office/officeart/2016/7/layout/LinearBlockProcessNumbered"/>
    <dgm:cxn modelId="{657649E9-3F52-4091-9A9D-7871113C164F}" srcId="{24F9A653-FE6C-493D-8CAD-540BCBE55CB7}" destId="{AEEDE9BA-B159-48D8-9C8E-6DA3A7B609B5}" srcOrd="2" destOrd="0" parTransId="{92670C4D-9F29-426D-A8D4-C51508756D56}" sibTransId="{08AF65B4-8432-4E34-AA8E-BF377F7C7C53}"/>
    <dgm:cxn modelId="{F59BF1F3-A900-48DD-AC57-76CBA230E7AA}" type="presOf" srcId="{8A6D6ABB-19A7-46CF-9DDE-6FBBB9B9467A}" destId="{9914A617-BB83-4ED7-AE98-1F1E40DDEB29}" srcOrd="1" destOrd="0" presId="urn:microsoft.com/office/officeart/2016/7/layout/LinearBlockProcessNumbered"/>
    <dgm:cxn modelId="{81E3FD29-01BB-4C8B-A0C6-1A9CD8A262B4}" type="presParOf" srcId="{E71FB564-84F4-41A5-9CA6-8929C001464C}" destId="{8725577B-2797-441A-B054-3E6C5830C98B}" srcOrd="0" destOrd="0" presId="urn:microsoft.com/office/officeart/2016/7/layout/LinearBlockProcessNumbered"/>
    <dgm:cxn modelId="{B18E4629-0D4C-48A7-A09E-7815FF8ECBAC}" type="presParOf" srcId="{8725577B-2797-441A-B054-3E6C5830C98B}" destId="{33B77685-F9DC-43E1-A490-6D1102149D25}" srcOrd="0" destOrd="0" presId="urn:microsoft.com/office/officeart/2016/7/layout/LinearBlockProcessNumbered"/>
    <dgm:cxn modelId="{91F376AF-5F88-42F0-B204-D19BFCFC25F2}" type="presParOf" srcId="{8725577B-2797-441A-B054-3E6C5830C98B}" destId="{B2A3FD45-C3A9-431C-B279-4E1F9DFB2923}" srcOrd="1" destOrd="0" presId="urn:microsoft.com/office/officeart/2016/7/layout/LinearBlockProcessNumbered"/>
    <dgm:cxn modelId="{7D6FAC87-7E9A-4170-8E02-5909B6A51D40}" type="presParOf" srcId="{8725577B-2797-441A-B054-3E6C5830C98B}" destId="{9914A617-BB83-4ED7-AE98-1F1E40DDEB29}" srcOrd="2" destOrd="0" presId="urn:microsoft.com/office/officeart/2016/7/layout/LinearBlockProcessNumbered"/>
    <dgm:cxn modelId="{DAEC21C0-86FC-4D85-9646-8A3F4E6D33F0}" type="presParOf" srcId="{E71FB564-84F4-41A5-9CA6-8929C001464C}" destId="{E5666CFD-7DB1-4A2A-B5C3-54DC67451FA6}" srcOrd="1" destOrd="0" presId="urn:microsoft.com/office/officeart/2016/7/layout/LinearBlockProcessNumbered"/>
    <dgm:cxn modelId="{B8DCF9AC-D6B3-480A-8F08-CE0324083EC1}" type="presParOf" srcId="{E71FB564-84F4-41A5-9CA6-8929C001464C}" destId="{8ED6A440-30CF-4EAA-A2AF-73DB3065DC18}" srcOrd="2" destOrd="0" presId="urn:microsoft.com/office/officeart/2016/7/layout/LinearBlockProcessNumbered"/>
    <dgm:cxn modelId="{9B6DCD3E-9B32-44E9-B9BE-678D340E43BC}" type="presParOf" srcId="{8ED6A440-30CF-4EAA-A2AF-73DB3065DC18}" destId="{B0CC1A07-FDBF-4FB4-8D97-50895794A4CB}" srcOrd="0" destOrd="0" presId="urn:microsoft.com/office/officeart/2016/7/layout/LinearBlockProcessNumbered"/>
    <dgm:cxn modelId="{4D6B91D3-CCC6-48A0-A057-D6A4B191D3AA}" type="presParOf" srcId="{8ED6A440-30CF-4EAA-A2AF-73DB3065DC18}" destId="{27972910-62A6-4A23-B705-9D9E651F447D}" srcOrd="1" destOrd="0" presId="urn:microsoft.com/office/officeart/2016/7/layout/LinearBlockProcessNumbered"/>
    <dgm:cxn modelId="{1A0987AB-9F45-431C-B066-C257DEB5D2F6}" type="presParOf" srcId="{8ED6A440-30CF-4EAA-A2AF-73DB3065DC18}" destId="{3B7FFAB6-D6D6-4615-AEF8-B9563CF87123}" srcOrd="2" destOrd="0" presId="urn:microsoft.com/office/officeart/2016/7/layout/LinearBlockProcessNumbered"/>
    <dgm:cxn modelId="{E9DF6D93-5490-4BA4-B812-FABBEE23696F}" type="presParOf" srcId="{E71FB564-84F4-41A5-9CA6-8929C001464C}" destId="{C3088845-6E57-4A76-A386-365A39EAF732}" srcOrd="3" destOrd="0" presId="urn:microsoft.com/office/officeart/2016/7/layout/LinearBlockProcessNumbered"/>
    <dgm:cxn modelId="{FBFB76F6-2A78-4F3E-87A3-6B541738D061}" type="presParOf" srcId="{E71FB564-84F4-41A5-9CA6-8929C001464C}" destId="{5F03516A-C6C9-4E41-8A51-976F0C8C3A65}" srcOrd="4" destOrd="0" presId="urn:microsoft.com/office/officeart/2016/7/layout/LinearBlockProcessNumbered"/>
    <dgm:cxn modelId="{39C338AF-C40D-4762-B891-61E78BF072AE}" type="presParOf" srcId="{5F03516A-C6C9-4E41-8A51-976F0C8C3A65}" destId="{1C77F2EF-F856-4FEA-8843-FDF420E071BA}" srcOrd="0" destOrd="0" presId="urn:microsoft.com/office/officeart/2016/7/layout/LinearBlockProcessNumbered"/>
    <dgm:cxn modelId="{C87CC158-E281-45C1-8BEC-0F7DB32BF069}" type="presParOf" srcId="{5F03516A-C6C9-4E41-8A51-976F0C8C3A65}" destId="{B114A6D6-D04B-45BC-82B4-15E10796F0D5}" srcOrd="1" destOrd="0" presId="urn:microsoft.com/office/officeart/2016/7/layout/LinearBlockProcessNumbered"/>
    <dgm:cxn modelId="{4810BF90-8C8C-4F3A-8918-93571FD70E99}" type="presParOf" srcId="{5F03516A-C6C9-4E41-8A51-976F0C8C3A65}" destId="{2740EED7-56A8-4812-B362-EA8153707F01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B77685-F9DC-43E1-A490-6D1102149D25}">
      <dsp:nvSpPr>
        <dsp:cNvPr id="0" name=""/>
        <dsp:cNvSpPr/>
      </dsp:nvSpPr>
      <dsp:spPr>
        <a:xfrm>
          <a:off x="750" y="0"/>
          <a:ext cx="3038884" cy="332449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0174" tIns="0" rIns="30017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Setting up appropriate trap handler</a:t>
          </a:r>
        </a:p>
      </dsp:txBody>
      <dsp:txXfrm>
        <a:off x="750" y="1329797"/>
        <a:ext cx="3038884" cy="1994696"/>
      </dsp:txXfrm>
    </dsp:sp>
    <dsp:sp modelId="{B2A3FD45-C3A9-431C-B279-4E1F9DFB2923}">
      <dsp:nvSpPr>
        <dsp:cNvPr id="0" name=""/>
        <dsp:cNvSpPr/>
      </dsp:nvSpPr>
      <dsp:spPr>
        <a:xfrm>
          <a:off x="750" y="0"/>
          <a:ext cx="3038884" cy="1329797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0174" tIns="165100" rIns="30017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750" y="0"/>
        <a:ext cx="3038884" cy="1329797"/>
      </dsp:txXfrm>
    </dsp:sp>
    <dsp:sp modelId="{B0CC1A07-FDBF-4FB4-8D97-50895794A4CB}">
      <dsp:nvSpPr>
        <dsp:cNvPr id="0" name=""/>
        <dsp:cNvSpPr/>
      </dsp:nvSpPr>
      <dsp:spPr>
        <a:xfrm>
          <a:off x="3282745" y="0"/>
          <a:ext cx="3038884" cy="3324494"/>
        </a:xfrm>
        <a:prstGeom prst="rect">
          <a:avLst/>
        </a:prstGeom>
        <a:gradFill rotWithShape="0">
          <a:gsLst>
            <a:gs pos="0">
              <a:schemeClr val="accent5">
                <a:hueOff val="-842315"/>
                <a:satOff val="-3972"/>
                <a:lumOff val="98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842315"/>
                <a:satOff val="-3972"/>
                <a:lumOff val="98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842315"/>
                <a:satOff val="-3972"/>
                <a:lumOff val="98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842315"/>
              <a:satOff val="-3972"/>
              <a:lumOff val="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0174" tIns="0" rIns="30017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Setting PIC enable interrupt mask</a:t>
          </a:r>
        </a:p>
      </dsp:txBody>
      <dsp:txXfrm>
        <a:off x="3282745" y="1329797"/>
        <a:ext cx="3038884" cy="1994696"/>
      </dsp:txXfrm>
    </dsp:sp>
    <dsp:sp modelId="{27972910-62A6-4A23-B705-9D9E651F447D}">
      <dsp:nvSpPr>
        <dsp:cNvPr id="0" name=""/>
        <dsp:cNvSpPr/>
      </dsp:nvSpPr>
      <dsp:spPr>
        <a:xfrm>
          <a:off x="3282745" y="0"/>
          <a:ext cx="3038884" cy="1329797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0174" tIns="165100" rIns="30017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282745" y="0"/>
        <a:ext cx="3038884" cy="1329797"/>
      </dsp:txXfrm>
    </dsp:sp>
    <dsp:sp modelId="{1C77F2EF-F856-4FEA-8843-FDF420E071BA}">
      <dsp:nvSpPr>
        <dsp:cNvPr id="0" name=""/>
        <dsp:cNvSpPr/>
      </dsp:nvSpPr>
      <dsp:spPr>
        <a:xfrm>
          <a:off x="6564740" y="0"/>
          <a:ext cx="3038884" cy="3324494"/>
        </a:xfrm>
        <a:prstGeom prst="rect">
          <a:avLst/>
        </a:prstGeom>
        <a:gradFill rotWithShape="0">
          <a:gsLst>
            <a:gs pos="0">
              <a:schemeClr val="accent5">
                <a:hueOff val="-1684631"/>
                <a:satOff val="-7944"/>
                <a:lumOff val="19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684631"/>
                <a:satOff val="-7944"/>
                <a:lumOff val="19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684631"/>
                <a:satOff val="-7944"/>
                <a:lumOff val="19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1684631"/>
              <a:satOff val="-7944"/>
              <a:lumOff val="196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0174" tIns="0" rIns="30017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Setting the E1000 NIC interrupt mask register (IMS) </a:t>
          </a:r>
        </a:p>
      </dsp:txBody>
      <dsp:txXfrm>
        <a:off x="6564740" y="1329797"/>
        <a:ext cx="3038884" cy="1994696"/>
      </dsp:txXfrm>
    </dsp:sp>
    <dsp:sp modelId="{B114A6D6-D04B-45BC-82B4-15E10796F0D5}">
      <dsp:nvSpPr>
        <dsp:cNvPr id="0" name=""/>
        <dsp:cNvSpPr/>
      </dsp:nvSpPr>
      <dsp:spPr>
        <a:xfrm>
          <a:off x="6564740" y="0"/>
          <a:ext cx="3038884" cy="1329797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0174" tIns="165100" rIns="30017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6564740" y="0"/>
        <a:ext cx="3038884" cy="13297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451520" y="2015640"/>
            <a:ext cx="9603000" cy="34502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960300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46861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372360" y="2015640"/>
            <a:ext cx="46861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1451520" y="804600"/>
            <a:ext cx="9603000" cy="48639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372360" y="2015640"/>
            <a:ext cx="46861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1451520" y="381780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46861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37236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372360" y="381780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37236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451520" y="3817800"/>
            <a:ext cx="960300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960300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1451520" y="3817800"/>
            <a:ext cx="960300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37236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1451520" y="381780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372360" y="381780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98720" y="201564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7945560" y="201564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1451520" y="381780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body"/>
          </p:nvPr>
        </p:nvSpPr>
        <p:spPr>
          <a:xfrm>
            <a:off x="4698720" y="381780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body"/>
          </p:nvPr>
        </p:nvSpPr>
        <p:spPr>
          <a:xfrm>
            <a:off x="7945560" y="381780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451520" y="2015640"/>
            <a:ext cx="9603000" cy="34502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960300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46861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372360" y="2015640"/>
            <a:ext cx="46861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1451520" y="804600"/>
            <a:ext cx="9603000" cy="48639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372360" y="2015640"/>
            <a:ext cx="46861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1451520" y="381780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46861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37236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372360" y="381780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37236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1451520" y="3817800"/>
            <a:ext cx="960300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960300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1451520" y="3817800"/>
            <a:ext cx="960300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637236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1451520" y="381780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6372360" y="381780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4698720" y="201564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7945560" y="201564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1451520" y="381780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body"/>
          </p:nvPr>
        </p:nvSpPr>
        <p:spPr>
          <a:xfrm>
            <a:off x="4698720" y="381780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 type="body"/>
          </p:nvPr>
        </p:nvSpPr>
        <p:spPr>
          <a:xfrm>
            <a:off x="7945560" y="381780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dfdbd5"/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" name="Picture 6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ln>
            <a:noFill/>
          </a:ln>
        </p:spPr>
      </p:pic>
      <p:sp>
        <p:nvSpPr>
          <p:cNvPr id="2" name="Line 2"/>
          <p:cNvSpPr/>
          <p:nvPr/>
        </p:nvSpPr>
        <p:spPr>
          <a:xfrm>
            <a:off x="0" y="6128280"/>
            <a:ext cx="12191760" cy="0"/>
          </a:xfrm>
          <a:prstGeom prst="line">
            <a:avLst/>
          </a:prstGeom>
          <a:ln w="12600">
            <a:solidFill>
              <a:srgbClr val="00000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2417760" y="802440"/>
            <a:ext cx="8636760" cy="2541240"/>
          </a:xfrm>
          <a:prstGeom prst="rect">
            <a:avLst/>
          </a:prstGeom>
        </p:spPr>
        <p:txBody>
          <a:bodyPr bIns="0" anchor="b">
            <a:normAutofit fontScale="87000"/>
          </a:bodyPr>
          <a:p>
            <a:pPr>
              <a:lnSpc>
                <a:spcPct val="90000"/>
              </a:lnSpc>
            </a:pPr>
            <a:r>
              <a:rPr b="0" lang="en-US" sz="6600" spc="-1" strike="noStrike" cap="all">
                <a:solidFill>
                  <a:srgbClr val="000000"/>
                </a:solidFill>
                <a:latin typeface="Gill Sans MT"/>
              </a:rPr>
              <a:t>Click to edit Master title style</a:t>
            </a:r>
            <a:endParaRPr b="0" lang="en-US" sz="66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5ADCAF89-EF3F-4EE8-B449-38109CC0BC16}" type="datetime">
              <a:rPr b="0" lang="en-US" sz="1000" spc="-1" strike="noStrike">
                <a:solidFill>
                  <a:srgbClr val="8b8b8b"/>
                </a:solidFill>
                <a:latin typeface="Gill Sans MT"/>
              </a:rPr>
              <a:t>8/12/24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ftr"/>
          </p:nvPr>
        </p:nvSpPr>
        <p:spPr>
          <a:xfrm>
            <a:off x="2416680" y="329400"/>
            <a:ext cx="4973400" cy="3088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sldNum"/>
          </p:nvPr>
        </p:nvSpPr>
        <p:spPr>
          <a:xfrm>
            <a:off x="1437840" y="798840"/>
            <a:ext cx="810720" cy="503280"/>
          </a:xfrm>
          <a:prstGeom prst="rect">
            <a:avLst/>
          </a:prstGeom>
        </p:spPr>
        <p:txBody>
          <a:bodyPr>
            <a:noAutofit/>
          </a:bodyPr>
          <a:p>
            <a:pPr algn="r">
              <a:lnSpc>
                <a:spcPct val="100000"/>
              </a:lnSpc>
            </a:pPr>
            <a:fld id="{CF1D3263-B3D9-42A6-9FCA-527D1C22F910}" type="slidenum">
              <a:rPr b="0" lang="en-US" sz="2800" spc="-1" strike="noStrike">
                <a:solidFill>
                  <a:srgbClr val="b71e42"/>
                </a:solidFill>
                <a:latin typeface="Gill Sans MT"/>
              </a:rPr>
              <a:t>&lt;number&gt;</a:t>
            </a:fld>
            <a:endParaRPr b="0" lang="en-US" sz="2800" spc="-1" strike="noStrike">
              <a:latin typeface="Times New Roman"/>
            </a:endParaRPr>
          </a:p>
        </p:txBody>
      </p:sp>
      <p:sp>
        <p:nvSpPr>
          <p:cNvPr id="7" name="Line 7"/>
          <p:cNvSpPr/>
          <p:nvPr/>
        </p:nvSpPr>
        <p:spPr>
          <a:xfrm>
            <a:off x="2417760" y="3528360"/>
            <a:ext cx="8636760" cy="0"/>
          </a:xfrm>
          <a:prstGeom prst="line">
            <a:avLst/>
          </a:prstGeom>
          <a:ln w="31680"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" name="PlaceHolder 8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dfdbd5"/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6" name="Picture 6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ln>
            <a:noFill/>
          </a:ln>
        </p:spPr>
      </p:pic>
      <p:sp>
        <p:nvSpPr>
          <p:cNvPr id="47" name="Line 2"/>
          <p:cNvSpPr/>
          <p:nvPr/>
        </p:nvSpPr>
        <p:spPr>
          <a:xfrm>
            <a:off x="0" y="6128280"/>
            <a:ext cx="12191760" cy="0"/>
          </a:xfrm>
          <a:prstGeom prst="line">
            <a:avLst/>
          </a:prstGeom>
          <a:ln w="12600">
            <a:solidFill>
              <a:srgbClr val="00000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PlaceHolder 3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Click to edit Master title style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1451520" y="2015640"/>
            <a:ext cx="9603000" cy="345024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Click to edit Master text styles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Second level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Third level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Fourth level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4" marL="20574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Fifth level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dt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21DB2C4B-BB29-4D6B-B195-537978B7F725}" type="datetime">
              <a:rPr b="0" lang="en-US" sz="1000" spc="-1" strike="noStrike">
                <a:solidFill>
                  <a:srgbClr val="8b8b8b"/>
                </a:solidFill>
                <a:latin typeface="Gill Sans MT"/>
              </a:rPr>
              <a:t>8/12/24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ftr"/>
          </p:nvPr>
        </p:nvSpPr>
        <p:spPr>
          <a:xfrm>
            <a:off x="1451520" y="329400"/>
            <a:ext cx="5938560" cy="3088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 type="sldNum"/>
          </p:nvPr>
        </p:nvSpPr>
        <p:spPr>
          <a:xfrm>
            <a:off x="480240" y="798840"/>
            <a:ext cx="810720" cy="503280"/>
          </a:xfrm>
          <a:prstGeom prst="rect">
            <a:avLst/>
          </a:prstGeom>
        </p:spPr>
        <p:txBody>
          <a:bodyPr>
            <a:noAutofit/>
          </a:bodyPr>
          <a:p>
            <a:pPr algn="r">
              <a:lnSpc>
                <a:spcPct val="100000"/>
              </a:lnSpc>
            </a:pPr>
            <a:fld id="{DC84F3F7-C949-4F77-9624-137F64458D67}" type="slidenum">
              <a:rPr b="0" lang="en-US" sz="2800" spc="-1" strike="noStrike">
                <a:solidFill>
                  <a:srgbClr val="b71e42"/>
                </a:solidFill>
                <a:latin typeface="Gill Sans MT"/>
              </a:rPr>
              <a:t>&lt;number&gt;</a:t>
            </a:fld>
            <a:endParaRPr b="0" lang="en-US" sz="2800" spc="-1" strike="noStrike">
              <a:latin typeface="Times New Roman"/>
            </a:endParaRPr>
          </a:p>
        </p:txBody>
      </p:sp>
      <p:sp>
        <p:nvSpPr>
          <p:cNvPr id="53" name="Line 8"/>
          <p:cNvSpPr/>
          <p:nvPr/>
        </p:nvSpPr>
        <p:spPr>
          <a:xfrm>
            <a:off x="1453680" y="1846800"/>
            <a:ext cx="9607680" cy="0"/>
          </a:xfrm>
          <a:prstGeom prst="line">
            <a:avLst/>
          </a:prstGeom>
          <a:ln w="31680"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b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1" name="CustomShape 2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dfdbd5"/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" name="TextShape 3"/>
          <p:cNvSpPr txBox="1"/>
          <p:nvPr/>
        </p:nvSpPr>
        <p:spPr>
          <a:xfrm>
            <a:off x="5140080" y="1027800"/>
            <a:ext cx="6083280" cy="3711600"/>
          </a:xfrm>
          <a:prstGeom prst="rect">
            <a:avLst/>
          </a:prstGeom>
          <a:noFill/>
          <a:ln>
            <a:noFill/>
          </a:ln>
        </p:spPr>
        <p:txBody>
          <a:bodyPr bIns="0" anchor="ctr">
            <a:normAutofit/>
          </a:bodyPr>
          <a:p>
            <a:pPr>
              <a:lnSpc>
                <a:spcPct val="90000"/>
              </a:lnSpc>
            </a:pPr>
            <a:r>
              <a:rPr b="0" lang="en-US" sz="5400" spc="-1" strike="noStrike" cap="all">
                <a:solidFill>
                  <a:srgbClr val="000000"/>
                </a:solidFill>
                <a:latin typeface="Gill Sans MT"/>
              </a:rPr>
              <a:t>JOS LAB 6 </a:t>
            </a:r>
            <a:endParaRPr b="0" lang="en-US" sz="54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93" name="TextShape 4"/>
          <p:cNvSpPr txBox="1"/>
          <p:nvPr/>
        </p:nvSpPr>
        <p:spPr>
          <a:xfrm>
            <a:off x="968040" y="1027800"/>
            <a:ext cx="3254400" cy="371160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rmAutofit/>
          </a:bodyPr>
          <a:p>
            <a:pPr algn="r">
              <a:lnSpc>
                <a:spcPct val="120000"/>
              </a:lnSpc>
              <a:spcBef>
                <a:spcPts val="1001"/>
              </a:spcBef>
            </a:pPr>
            <a:r>
              <a:rPr b="0" lang="en-US" sz="1800" spc="-1" strike="noStrike" cap="all">
                <a:solidFill>
                  <a:srgbClr val="000000"/>
                </a:solidFill>
                <a:latin typeface="Gill Sans MT"/>
              </a:rPr>
              <a:t>Ophir khill</a:t>
            </a:r>
            <a:endParaRPr b="0" lang="en-US" sz="1800" spc="-1" strike="noStrike">
              <a:latin typeface="Arial"/>
            </a:endParaRPr>
          </a:p>
          <a:p>
            <a:pPr algn="r">
              <a:lnSpc>
                <a:spcPct val="120000"/>
              </a:lnSpc>
              <a:spcBef>
                <a:spcPts val="1001"/>
              </a:spcBef>
            </a:pPr>
            <a:r>
              <a:rPr b="0" lang="en-US" sz="1800" spc="-1" strike="noStrike" cap="all">
                <a:solidFill>
                  <a:srgbClr val="000000"/>
                </a:solidFill>
                <a:latin typeface="Gill Sans MT"/>
              </a:rPr>
              <a:t>Itay snir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4" name="Line 5"/>
          <p:cNvSpPr/>
          <p:nvPr/>
        </p:nvSpPr>
        <p:spPr>
          <a:xfrm>
            <a:off x="4654080" y="1374840"/>
            <a:ext cx="0" cy="3017520"/>
          </a:xfrm>
          <a:prstGeom prst="line">
            <a:avLst/>
          </a:prstGeom>
          <a:ln w="31680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5" name="Picture 13" descr=""/>
          <p:cNvPicPr/>
          <p:nvPr/>
        </p:nvPicPr>
        <p:blipFill>
          <a:blip r:embed="rId1"/>
          <a:srcRect l="0" t="1526" r="0" b="-1526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ln>
            <a:noFill/>
          </a:ln>
        </p:spPr>
      </p:pic>
      <p:sp>
        <p:nvSpPr>
          <p:cNvPr id="96" name="Line 6"/>
          <p:cNvSpPr/>
          <p:nvPr/>
        </p:nvSpPr>
        <p:spPr>
          <a:xfrm>
            <a:off x="0" y="6128280"/>
            <a:ext cx="12191760" cy="0"/>
          </a:xfrm>
          <a:prstGeom prst="line">
            <a:avLst/>
          </a:prstGeom>
          <a:ln w="12600">
            <a:solidFill>
              <a:srgbClr val="00000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PROJECT OVERVIEW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98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NIC interrupt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Challenge 1 – EEPROM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Challenge 2 – chat server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Challenge 3 – JPF ( JOS PACKET FILTERING)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HANDLING nic interrupt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3770009567"/>
              </p:ext>
            </p:extLst>
          </p:nvPr>
        </p:nvGraphicFramePr>
        <p:xfrm>
          <a:off x="1450800" y="2340360"/>
          <a:ext cx="9604080" cy="3324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HANDLING nic interrupt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1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Setting up appropriate trap handler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Dummy read from ICR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to acknowledge interrupt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Lapic &amp; irq eoi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Schedule input_env to receive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the incoming packet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02" name="Picture 5" descr=""/>
          <p:cNvPicPr/>
          <p:nvPr/>
        </p:nvPicPr>
        <p:blipFill>
          <a:blip r:embed="rId1"/>
          <a:stretch/>
        </p:blipFill>
        <p:spPr>
          <a:xfrm>
            <a:off x="6524640" y="2177640"/>
            <a:ext cx="5149440" cy="34502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HANDLING nic interrupt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4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Setting PIC enable interrupt mask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Setting the appropriate IRQ line number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05" name="Picture 4" descr=""/>
          <p:cNvPicPr/>
          <p:nvPr/>
        </p:nvPicPr>
        <p:blipFill>
          <a:blip r:embed="rId1"/>
          <a:stretch/>
        </p:blipFill>
        <p:spPr>
          <a:xfrm>
            <a:off x="3106800" y="3324600"/>
            <a:ext cx="5978160" cy="14515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HANDLING nic interrupt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Setting the E1000 NIC interrupt mask register (IMS) 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In the E1000 attach function, flush and set bits required to activate receive interrupt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RXT0 – receiver time 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   interrupt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SRPD – small receive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  packet detected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08" name="Picture 4" descr=""/>
          <p:cNvPicPr/>
          <p:nvPr/>
        </p:nvPicPr>
        <p:blipFill>
          <a:blip r:embed="rId1"/>
          <a:stretch/>
        </p:blipFill>
        <p:spPr>
          <a:xfrm>
            <a:off x="4565520" y="3033360"/>
            <a:ext cx="6768000" cy="23198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HANDLING nic interrupt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0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Example –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each print represents a different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packet receiver interrupt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11" name="Picture 6" descr=""/>
          <p:cNvPicPr/>
          <p:nvPr/>
        </p:nvPicPr>
        <p:blipFill>
          <a:blip r:embed="rId1"/>
          <a:stretch/>
        </p:blipFill>
        <p:spPr>
          <a:xfrm>
            <a:off x="5169600" y="2183400"/>
            <a:ext cx="5884920" cy="24904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Challenge 1 – EEPROM</a:t>
            </a:r>
            <a:br/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3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Using the EERD E1000 register, build the MAC address as written in the HW.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MAC bytes located at EEPROM words 0x0, 0x1, 0x2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14" name="Picture 4" descr=""/>
          <p:cNvPicPr/>
          <p:nvPr/>
        </p:nvPicPr>
        <p:blipFill>
          <a:blip r:embed="rId1"/>
          <a:stretch/>
        </p:blipFill>
        <p:spPr>
          <a:xfrm>
            <a:off x="3922920" y="2903760"/>
            <a:ext cx="7543440" cy="31492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Challenge 2 – chat server</a:t>
            </a:r>
            <a:br/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6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Implemented using 2 running environments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Env 1 – continuously accept new client connection and update a shared memory 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  open socket table. 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17" name="Picture 4" descr=""/>
          <p:cNvPicPr/>
          <p:nvPr/>
        </p:nvPicPr>
        <p:blipFill>
          <a:blip r:embed="rId1"/>
          <a:stretch/>
        </p:blipFill>
        <p:spPr>
          <a:xfrm>
            <a:off x="4903560" y="2971800"/>
            <a:ext cx="6150960" cy="37288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Challenge 2 – chat server</a:t>
            </a:r>
            <a:br/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9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Env 2 – continuously poll data (non block) from all open sockets.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Broadcasts messages 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While the process share an open sockets array,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Env 2 does not have the corresponding FD’s 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and as such needs to construct them.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20" name="Picture 4" descr=""/>
          <p:cNvPicPr/>
          <p:nvPr/>
        </p:nvPicPr>
        <p:blipFill>
          <a:blip r:embed="rId1"/>
          <a:stretch/>
        </p:blipFill>
        <p:spPr>
          <a:xfrm>
            <a:off x="7467120" y="2497320"/>
            <a:ext cx="4724640" cy="3867480"/>
          </a:xfrm>
          <a:prstGeom prst="rect">
            <a:avLst/>
          </a:prstGeom>
          <a:ln>
            <a:noFill/>
          </a:ln>
        </p:spPr>
      </p:pic>
      <p:pic>
        <p:nvPicPr>
          <p:cNvPr id="121" name="Picture 6" descr=""/>
          <p:cNvPicPr/>
          <p:nvPr/>
        </p:nvPicPr>
        <p:blipFill>
          <a:blip r:embed="rId2"/>
          <a:stretch/>
        </p:blipFill>
        <p:spPr>
          <a:xfrm>
            <a:off x="1451520" y="4267080"/>
            <a:ext cx="5488200" cy="13075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Challenge 2 – chat server</a:t>
            </a:r>
            <a:br/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3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Example - 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As seen, a single client is sending a message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that’s broadcasted to all connected clients.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24" name="Picture 6" descr=""/>
          <p:cNvPicPr/>
          <p:nvPr/>
        </p:nvPicPr>
        <p:blipFill>
          <a:blip r:embed="rId1"/>
          <a:stretch/>
        </p:blipFill>
        <p:spPr>
          <a:xfrm>
            <a:off x="6722280" y="2015640"/>
            <a:ext cx="4967640" cy="36122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Challenge 3 – JPF ( JOS PACKET FILTERING)</a:t>
            </a:r>
            <a:br/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6" name="TextShape 2"/>
          <p:cNvSpPr txBox="1"/>
          <p:nvPr/>
        </p:nvSpPr>
        <p:spPr>
          <a:xfrm>
            <a:off x="1451520" y="20282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For our own challenge, we chose to implement a simple packet filter to JOS.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The filter is used to blacklist certain IPs, ports, and IP &amp; port pairs.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The presented filter will block out all packets the are received from port 7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(in our case – echo server)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27" name="Picture 4" descr=""/>
          <p:cNvPicPr/>
          <p:nvPr/>
        </p:nvPicPr>
        <p:blipFill>
          <a:blip r:embed="rId1"/>
          <a:stretch/>
        </p:blipFill>
        <p:spPr>
          <a:xfrm>
            <a:off x="1639440" y="3879000"/>
            <a:ext cx="9100800" cy="9201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Challenge 3 – JPF ( JOS PACKET FILTERING)</a:t>
            </a:r>
            <a:br/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9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While receiving a packet (Ex 11), the NIC will now check that the packet is following the filter rules.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We parse the IP &amp; port from the received packet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Noting that the IP &amp; port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are in big endian 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and accommodating for that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30" name="Picture 6" descr=""/>
          <p:cNvPicPr/>
          <p:nvPr/>
        </p:nvPicPr>
        <p:blipFill>
          <a:blip r:embed="rId1"/>
          <a:stretch/>
        </p:blipFill>
        <p:spPr>
          <a:xfrm>
            <a:off x="5258880" y="3245040"/>
            <a:ext cx="6932880" cy="21988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Challenge 3 – JPF ( JOS PACKET FILTERING)</a:t>
            </a:r>
            <a:br/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32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Checking whether the packet should be discarded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Making sure to turn off DD so the packet will indeed be discarded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33" name="Picture 3" descr=""/>
          <p:cNvPicPr/>
          <p:nvPr/>
        </p:nvPicPr>
        <p:blipFill>
          <a:blip r:embed="rId1"/>
          <a:stretch/>
        </p:blipFill>
        <p:spPr>
          <a:xfrm>
            <a:off x="2626200" y="2659680"/>
            <a:ext cx="8603640" cy="1611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201</TotalTime>
  <Application>Neat_Office/6.2.8.2$Windows_x86 LibreOffice_project/</Application>
  <Words>456</Words>
  <Paragraphs>61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2022-06-18T14:05:33Z</dcterms:created>
  <dc:creator>ophir khill</dc:creator>
  <dc:description/>
  <dc:language>he-IL</dc:language>
  <cp:lastModifiedBy/>
  <dcterms:modified xsi:type="dcterms:W3CDTF">2024-08-12T10:55:10Z</dcterms:modified>
  <cp:revision>5</cp:revision>
  <dc:subject/>
  <dc:title>JOS LAB 6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14</vt:i4>
  </property>
</Properties>
</file>